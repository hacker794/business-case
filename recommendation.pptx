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8007239bf44e99" /><Relationship Type="http://schemas.openxmlformats.org/officeDocument/2006/relationships/extended-properties" Target="/docProps/app.xml" Id="R0e6f2e79230a4d32" /><Relationship Type="http://schemas.openxmlformats.org/officeDocument/2006/relationships/officeDocument" Target="/ppt/presentation.xml" Id="R13bc2cacdda947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8dfbb7ce364ba8"/>
  </p:sldMasterIdLst>
  <p:notesMasterIdLst>
    <p:notesMasterId xmlns:r="http://schemas.openxmlformats.org/officeDocument/2006/relationships" r:id="Rd3774f9c736e455f"/>
  </p:notesMasterIdLst>
  <p:sldIdLst>
    <p:sldId xmlns:r="http://schemas.openxmlformats.org/officeDocument/2006/relationships" id="256" r:id="R5d09886ef69f4066"/>
    <p:sldId xmlns:r="http://schemas.openxmlformats.org/officeDocument/2006/relationships" id="257" r:id="R4035add0a5264df1"/>
    <p:sldId xmlns:r="http://schemas.openxmlformats.org/officeDocument/2006/relationships" id="258" r:id="R4ceaa44638f14523"/>
    <p:sldId xmlns:r="http://schemas.openxmlformats.org/officeDocument/2006/relationships" id="259" r:id="R338788a44e314dbe"/>
    <p:sldId xmlns:r="http://schemas.openxmlformats.org/officeDocument/2006/relationships" id="260" r:id="Re04298558d8b437a"/>
    <p:sldId xmlns:r="http://schemas.openxmlformats.org/officeDocument/2006/relationships" id="261" r:id="Ra75bb39201ed4d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8b1e23ead34289" /><Relationship Type="http://schemas.openxmlformats.org/officeDocument/2006/relationships/slideMaster" Target="/ppt/slideMasters/slideMaster1.xml" Id="R3f8dfbb7ce364ba8" /><Relationship Type="http://schemas.openxmlformats.org/officeDocument/2006/relationships/notesMaster" Target="/ppt/notesMasters/notesMaster1.xml" Id="Rd3774f9c736e455f" /><Relationship Type="http://schemas.openxmlformats.org/officeDocument/2006/relationships/presProps" Target="/ppt/presProps.xml" Id="Rc4464006b7c94ad4" /><Relationship Type="http://schemas.openxmlformats.org/officeDocument/2006/relationships/tableStyles" Target="/ppt/tableStyles.xml" Id="R8dbe22dac191435d" /><Relationship Type="http://schemas.openxmlformats.org/officeDocument/2006/relationships/slide" Target="/ppt/slides/slide1.xml" Id="R5d09886ef69f4066" /><Relationship Type="http://schemas.openxmlformats.org/officeDocument/2006/relationships/slide" Target="/ppt/slides/slide2.xml" Id="R4035add0a5264df1" /><Relationship Type="http://schemas.openxmlformats.org/officeDocument/2006/relationships/slide" Target="/ppt/slides/slide3.xml" Id="R4ceaa44638f14523" /><Relationship Type="http://schemas.openxmlformats.org/officeDocument/2006/relationships/slide" Target="/ppt/slides/slide4.xml" Id="R338788a44e314dbe" /><Relationship Type="http://schemas.openxmlformats.org/officeDocument/2006/relationships/slide" Target="/ppt/slides/slide5.xml" Id="Re04298558d8b437a" /><Relationship Type="http://schemas.openxmlformats.org/officeDocument/2006/relationships/slide" Target="/ppt/slides/slide6.xml" Id="Ra75bb39201ed4d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71d09db3db4d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5225769aaf4655" /><Relationship Type="http://schemas.openxmlformats.org/officeDocument/2006/relationships/notesMaster" Target="/ppt/notesMasters/notesMaster1.xml" Id="R8ab616ac29704f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9ab5d9fa3a445a" /><Relationship Type="http://schemas.openxmlformats.org/officeDocument/2006/relationships/notesMaster" Target="/ppt/notesMasters/notesMaster1.xml" Id="R2fdf55c74e7747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262b4a135f4fde" /><Relationship Type="http://schemas.openxmlformats.org/officeDocument/2006/relationships/notesMaster" Target="/ppt/notesMasters/notesMaster1.xml" Id="Rb597cec452ab43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e08beb60844f75" /><Relationship Type="http://schemas.openxmlformats.org/officeDocument/2006/relationships/notesMaster" Target="/ppt/notesMasters/notesMaster1.xml" Id="R2e2e45d7bded4f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1b5841430540cb" /><Relationship Type="http://schemas.openxmlformats.org/officeDocument/2006/relationships/notesMaster" Target="/ppt/notesMasters/notesMaster1.xml" Id="Raa94b5d28d9a4a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a2ac19487d4146" /><Relationship Type="http://schemas.openxmlformats.org/officeDocument/2006/relationships/notesMaster" Target="/ppt/notesMasters/notesMaster1.xml" Id="Rbfd68004d51543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Learning-Guide-Day-09.pdf; Task-Brief-Day-09.pdf; Day 9 unit-economics results supplied in the project conversation.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Learning-Guide-Day-09.pdf; Task-Brief-Day-09.pdf. Calculations: revenue = 25 × £200 = £5,000; variable costs = 25 × £40 = £1,000; fixed costs = £3,000; profit = £1,000; break-even = £3,000 ÷ (£200 − £40) = 18.75.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Learning-Guide-Day-09.pdf; Task-Brief-Day-09.pdf. User-supplied model outputs: £150/−£250/27.3; £200/£1,000/18.8; £250/£2,250/14.3; £300/£3,500/11.5.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Learning-Guide-Day-09.pdf; Task-Brief-Day-09.pdf; product-one-pager content developed in the Day 9 project conversation.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Learning-Guide-Day-09.pdf; Task-Brief-Day-09.pdf; risk and pilot measures from the Day 9 product one-pager developed in the conversation.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Learning-Guide-Day-09.pdf; Task-Brief-Day-09.pdf; Day 9 calculations and recommendation supplied in the project conversation.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741af88bb94e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66a3e761ef4920" /><Relationship Type="http://schemas.openxmlformats.org/officeDocument/2006/relationships/slideLayout" Target="/ppt/slideLayouts/slideLayout1.xml" Id="R394c7f578c7e48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4c7f578c7e48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2a85ca48042cc" /><Relationship Type="http://schemas.openxmlformats.org/officeDocument/2006/relationships/notesSlide" Target="/ppt/notesSlides/notesSlide1.xml" Id="Rf21e82b4abed49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308c86ac1e4347" /><Relationship Type="http://schemas.openxmlformats.org/officeDocument/2006/relationships/notesSlide" Target="/ppt/notesSlides/notesSlide2.xml" Id="R4062354f374942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ebf480f5442cc" /><Relationship Type="http://schemas.openxmlformats.org/officeDocument/2006/relationships/chart" Target="/ppt/slides/charts/chart1.xml" Id="R35c2a0a1dfcc4d9c" /><Relationship Type="http://schemas.openxmlformats.org/officeDocument/2006/relationships/notesSlide" Target="/ppt/notesSlides/notesSlide3.xml" Id="Ra565537d0daf40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3959432aa4c9b" /><Relationship Type="http://schemas.openxmlformats.org/officeDocument/2006/relationships/notesSlide" Target="/ppt/notesSlides/notesSlide4.xml" Id="Ra0a9585dcfa94c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147cb133441be" /><Relationship Type="http://schemas.openxmlformats.org/officeDocument/2006/relationships/notesSlide" Target="/ppt/notesSlides/notesSlide5.xml" Id="R0041c152f4bd47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fb34b59ad4c54" /><Relationship Type="http://schemas.openxmlformats.org/officeDocument/2006/relationships/notesSlide" Target="/ppt/notesSlides/notesSlide6.xml" Id="Rb228176870784e37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Monthly profit</c:v>
          </c:tx>
          <c:spPr>
            <a:solidFill xmlns:a="http://schemas.openxmlformats.org/drawingml/2006/main">
              <a:srgbClr val="3D8DFF"/>
            </a:solidFill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4"/>
              <c:pt idx="0">
                <c:v>£150</c:v>
              </c:pt>
              <c:pt idx="1">
                <c:v>£200</c:v>
              </c:pt>
              <c:pt idx="2">
                <c:v>£250</c:v>
              </c:pt>
              <c:pt idx="3">
                <c:v>£300</c:v>
              </c:pt>
            </c:strLit>
          </c:cat>
          <c:val>
            <c:numLit>
              <c:formatCode>£#,##0;[Red]-£#,##0</c:formatCode>
              <c:ptCount val="4"/>
              <c:pt idx="0">
                <c:v>-250</c:v>
              </c:pt>
              <c:pt idx="1">
                <c:v>1000</c:v>
              </c:pt>
              <c:pt idx="2">
                <c:v>2250</c:v>
              </c:pt>
              <c:pt idx="3">
                <c:v>3500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Price per trolley / month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4000"/>
          <c:min val="-5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B"/>
              </a:solidFill>
              <a:prstDash val="solid"/>
            </a:ln>
          </c:spPr>
        </c:majorGridlines>
        <c:numFmt formatCode="£#,##0;[Red]-£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1000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CFB907-3348-4914-8C51-A56D21C4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RIVERSIDE MALLS | DAY 9 BUSINESS CASE</a:t>
            </a:r>
          </a:p>
        </p:txBody>
      </p:sp>
      <p:sp>
        <p:nvSpPr>
          <p:cNvPr id="2" name="recommendation-title">
            <a:extLst xmlns:a="http://schemas.openxmlformats.org/drawingml/2006/main">
              <a:ext uri="{FF2B5EF4-FFF2-40B4-BE49-F238E27FC236}">
                <a16:creationId xmlns:a16="http://schemas.microsoft.com/office/drawing/2014/main" id="{395BB0BA-D017-4005-AA98-B95D879E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Launch 25 smart trolleys at £200 per month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2BF68-6B30-4347-9F06-A65B870A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48125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5DFB6-32FD-4CCC-9DE2-4E0066A2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810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pilot earns £1,000 per month and breaks even at 18.8 trolleys—giving Riverside a viable entry price without assuming unproven demand at £250–£300.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2E4F55-00B7-4902-9D61-6C58F8E3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1719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KEY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83AAE-1581-4FFC-A99B-BB036F0E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495800"/>
            <a:ext cx="2333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Should Riverside launch—and at what price?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2E4F1-0E2F-4C71-BED8-ABF29771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Recommendation-led consulting deck</a:t>
            </a:r>
          </a:p>
        </p:txBody>
      </p:sp>
    </p:spTree>
    <p:extLst>
      <p:ext uri="{BB962C8B-B14F-4D97-AF65-F5344CB8AC3E}">
        <p14:creationId xmlns:p14="http://schemas.microsoft.com/office/powerpoint/2010/main" val="3632398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">
            <a:extLst xmlns:a="http://schemas.openxmlformats.org/drawingml/2006/main">
              <a:ext uri="{FF2B5EF4-FFF2-40B4-BE49-F238E27FC236}">
                <a16:creationId xmlns:a16="http://schemas.microsoft.com/office/drawing/2014/main" id="{3B837042-6A1A-4DDB-A46F-92010E37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RIVERSIDE MALLS | DAY 9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F0EB25-DDE9-4398-ABE1-D98D795B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£200 clears break-even with a £1,000 monthly profit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7B1B5A7-D06D-4058-A129-FC95C8D8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00050" y="1323975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43B04-865D-48F9-8B15-17BFEB08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The lowest required price tier is already viable; higher tiers improve profit but introduce untested willingness-to-pay risk.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65797-89C4-466B-A537-7A8F7AC3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47950"/>
            <a:ext cx="3571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D2CC1-FA24-4969-98C7-5A9A4121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BE5D3-F7D4-4B32-BA49-143AEEB1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trolleys in the paid pilot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685800" y="4848225"/>
            <a:ext cx="300037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3BC8D-F899-490A-B2A9-F4CEFA6B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Full pilot scale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8D5BB-E568-4E4B-BB38-6EF5AAC7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47950"/>
            <a:ext cx="3571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392FE-6DB1-4A96-BC62-60EF2F21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099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£1,000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FA0D8-718A-4BDF-BB06-83369718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124325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monthly profit at £200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4600575" y="4848225"/>
            <a:ext cx="300037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05599D-2FD3-4725-8810-AF787A7F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29200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£5,000 revenue − £4,000 costs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3F238-4B93-4303-8A89-ACA849C7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47950"/>
            <a:ext cx="3571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4B3AA2-FDDD-4789-B71D-0D2D576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099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18.8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D1F130-8DF9-4DC3-B80C-8A97F448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24325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break-even trolleys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8515350" y="4848225"/>
            <a:ext cx="300037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E8E790-49B4-46B3-90A5-004D4CFC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29200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6.2-trolley cushion vs pilot size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7B7C4-1A68-4899-900D-724EDD02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Recommendation: start at £200, then test willingness to pay before moving to £250 or £300.</a:t>
            </a:r>
          </a:p>
        </p:txBody>
      </p:sp>
    </p:spTree>
    <p:extLst>
      <p:ext uri="{BB962C8B-B14F-4D97-AF65-F5344CB8AC3E}">
        <p14:creationId xmlns:p14="http://schemas.microsoft.com/office/powerpoint/2010/main" val="1371114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55F2B073-C972-48AE-A1E4-F0D26A48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RIVERSIDE MALLS | DAY 9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7A8F45-9BCC-4541-A99E-6C7D8D64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Profit rises with price—but £200 is the prudent entry point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C2ECD51-184B-4BB2-8328-A6F00E1C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400050" y="1323975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26C6B9-CBAC-43DB-96F9-395FAD0E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Monthly profit for a 25-trolley pilot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400050" y="1952625"/>
          <a:ext xmlns:a="http://schemas.openxmlformats.org/drawingml/2006/main" cx="647700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c2a0a1dfcc4d9c"/>
          </a:graphicData>
        </a:graphic>
      </p:graphicFrame>
      <p:cxnSp>
        <p:nvCxnSpPr>
          <p:cNvPr id="19" name=""/>
          <p:cNvCxnSpPr/>
          <p:nvPr/>
        </p:nvCxnSpPr>
        <p:spPr>
          <a:xfrm xmlns:a="http://schemas.openxmlformats.org/drawingml/2006/main">
            <a:off x="400050" y="5343525"/>
            <a:ext cx="64770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390AE-4FC1-4DD5-A58A-C141DB94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430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Unit economics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7334250" y="1952625"/>
          <a:ext xmlns:a="http://schemas.openxmlformats.org/drawingml/2006/main" cx="4457700" cy="2667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81125"/>
                <a:gridCol w="1524000"/>
                <a:gridCol w="1552575"/>
              </a:tblGrid>
              <a:tr h="5334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Price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Profit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Break-even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£150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−£250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27.3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£200</a:t>
                      </a:r>
                    </a:p>
                  </a:txBody>
                  <a:tcPr marL="91440" marR="91440" marT="45720" marB="45720">
                    <a:solidFill>
                      <a:srgbClr val="D0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£1,000</a:t>
                      </a:r>
                    </a:p>
                  </a:txBody>
                  <a:tcPr marL="91440" marR="91440" marT="45720" marB="45720">
                    <a:solidFill>
                      <a:srgbClr val="D0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18.8</a:t>
                      </a:r>
                    </a:p>
                  </a:txBody>
                  <a:tcPr marL="91440" marR="91440" marT="45720" marB="45720">
                    <a:solidFill>
                      <a:srgbClr val="D0EDF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£250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£2,250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14.3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£300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£3,500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11.5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330F06-FB1A-456F-AF1E-DEA3D4E7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33950"/>
            <a:ext cx="4457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6CFBF-E6B1-4B3F-B982-D555BD99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14925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555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£150 fails the 25-trolley break-even test. £200 is profitable before relying on higher, unproven price points.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DA998-B3EA-424C-9521-2882FBE4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Profit = 25 × (price − £40) − £3,000</a:t>
            </a:r>
          </a:p>
        </p:txBody>
      </p:sp>
    </p:spTree>
    <p:extLst>
      <p:ext uri="{BB962C8B-B14F-4D97-AF65-F5344CB8AC3E}">
        <p14:creationId xmlns:p14="http://schemas.microsoft.com/office/powerpoint/2010/main" val="11099644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FA805CDC-F3D2-44CF-A188-F3947B21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RIVERSIDE MALLS | DAY 9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E423E2-C9A7-4C9C-B5D5-DA914847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214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MVP proves shopper value and operator control—without costly extras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20A87ED-DA1C-4732-ACCD-C0042A50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400050" y="1323975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B09D-D077-454F-B639-EC57634D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Design the pilot around the core job: help shoppers complete trips more easily while giving operators a manageable trolley fleet.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22E77-6A80-46C0-8EF9-5209F55E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908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TARGET USERS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F56C0-9C26-4F09-9251-48723A61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7180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Who it serves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3667125"/>
            <a:ext cx="33337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1688D-73D9-4ADB-94CC-834C6E74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Mall and retail operators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Shoppers using the trolley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Store support teams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Paying customer: the operator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0F6A8-78CC-4DA3-9560-0F80DEB9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908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PILOT SCOPE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14F3CA-B7A7-4F14-8474-CECB242A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7180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the MVP includes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4314825" y="3667125"/>
            <a:ext cx="33337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5ED9F-554F-4948-BAC5-FE3733CC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Product search + aisle info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Digital basket + live total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Basic shopping suggestions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Position, battery + weight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Alerts + simple 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D1F99A-153A-4599-A0D3-58A2218C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DELIBERATE EXCLUSIONS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4F0B82-F3FF-4F24-9BBC-DE1D78B1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stays out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8229600" y="3667125"/>
            <a:ext cx="33337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097422-DF0A-4B91-A545-6771E006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Payment and auto-checkout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Facial recognition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Personalised advertising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Loyalty integrations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• Advanced route optimisation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A469CE-4B0E-404B-894A-BDA5709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5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Base revenue is the operator fee; shopper hire, advertising and analytics remain upside—not assumptions in the core case.</a:t>
            </a:r>
          </a:p>
        </p:txBody>
      </p:sp>
    </p:spTree>
    <p:extLst>
      <p:ext uri="{BB962C8B-B14F-4D97-AF65-F5344CB8AC3E}">
        <p14:creationId xmlns:p14="http://schemas.microsoft.com/office/powerpoint/2010/main" val="7289566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eyebrow">
            <a:extLst xmlns:a="http://schemas.openxmlformats.org/drawingml/2006/main">
              <a:ext uri="{FF2B5EF4-FFF2-40B4-BE49-F238E27FC236}">
                <a16:creationId xmlns:a16="http://schemas.microsoft.com/office/drawing/2014/main" id="{3E7682FE-FAAB-4A30-8888-F8F236AC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RIVERSIDE MALLS | DAY 9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8EF016-2627-4A6E-9DDA-87BA952B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staged pilot controls commercial and delivery risk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B7C8A34-FA6E-4DE6-8E13-DFDCCB82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400050" y="1323975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79A7D-62DE-4DEB-9851-027AF610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799F2-B28B-4B14-8CF5-B54437DE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Adoption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367AD-989D-4671-AC4E-47FE188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38350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15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Shoppers may prefer standard trolleys.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9C2570-4F73-4765-814B-7D554D1F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38350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On-site onboarding + usage tracking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400050" y="2571750"/>
            <a:ext cx="59817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2E5E9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3EDA20-1365-4265-AE09-22121BA7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Price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430C8B-FD07-4B00-B915-6DF29760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76550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121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Operators may resist £200 per month.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22C3B6-3B0F-4C4F-9952-B92E157B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76550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Measure value; test willingness to pay</a:t>
            </a:r>
          </a:p>
        </p:txBody>
      </p:sp>
      <p:cxnSp>
        <p:nvCxnSpPr>
          <p:cNvPr id="49" name=""/>
          <p:cNvCxnSpPr/>
          <p:nvPr/>
        </p:nvCxnSpPr>
        <p:spPr>
          <a:xfrm xmlns:a="http://schemas.openxmlformats.org/drawingml/2006/main">
            <a:off x="400050" y="3409950"/>
            <a:ext cx="59817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2E5E9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AED2E-1ED1-40FE-AA66-56321A9C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Reliability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DBAAB-6AB7-42D5-9EA5-6ACB8167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14750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9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Battery, location or software may fail.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6EAE65-836C-423A-8E62-3BBB24F6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Fault monitoring + backup trolleys</a:t>
            </a:r>
          </a:p>
        </p:txBody>
      </p:sp>
      <p:cxnSp>
        <p:nvCxnSpPr>
          <p:cNvPr id="53" name=""/>
          <p:cNvCxnSpPr/>
          <p:nvPr/>
        </p:nvCxnSpPr>
        <p:spPr>
          <a:xfrm xmlns:a="http://schemas.openxmlformats.org/drawingml/2006/main">
            <a:off x="400050" y="4248150"/>
            <a:ext cx="59817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2E5E9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2A4DF9-E412-4385-9DA7-92B76F82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Support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3071F-9059-45F4-ACF3-C6C198A0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552950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Variable cost may exceed £40.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8D189D-D122-4491-BFF6-6417825C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52950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Track maintenance cost per trolley</a:t>
            </a:r>
          </a:p>
        </p:txBody>
      </p:sp>
      <p:cxnSp>
        <p:nvCxnSpPr>
          <p:cNvPr id="57" name=""/>
          <p:cNvCxnSpPr/>
          <p:nvPr/>
        </p:nvCxnSpPr>
        <p:spPr>
          <a:xfrm xmlns:a="http://schemas.openxmlformats.org/drawingml/2006/main">
            <a:off x="400050" y="5086350"/>
            <a:ext cx="59817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2E5E9"/>
            </a:solidFill>
            <a:prstDash val="soli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B8D56F-D375-473D-A2E9-7CB9DF88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002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7239000" y="2457450"/>
            <a:ext cx="9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31B9CD-16D1-434B-B6FE-AA8A212F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B81E97-A8F0-4E67-B7BD-576EB238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431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76C2B1-5711-46AE-AB86-4B78B3F8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764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E7FBC1-1016-4AA8-B435-B288AF3E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43840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Deploy 25 trolleys at £200 per month.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5A942F-0127-4B52-BB04-F8BCD8F9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62325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A1BBE8-5368-4983-9B62-BEE07102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A551E9-9B43-41EF-9284-0D4A0168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623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86F84A-0E0F-4FB9-AC09-62C15536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24275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Track usage, satisfaction, faults, support cost and operator willingness to continue.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2CA979-ECE4-4347-8A7D-AD3D8A65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810125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1777D0-2863-4B94-8193-703EF640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8768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008E26-2583-4E17-8F2B-2AD0317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101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Decide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A2862D-8672-47A9-BA4C-9C0E74CB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72075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rPr>
              <a:t>Scale, reprice or stop using observed economics—not optimistic assumptions.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2EA5F1-A41F-4A67-BCDC-4A9DF5A7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Pilot success gates: positive unit economics, dependable service and clear operator demand.</a:t>
            </a:r>
          </a:p>
        </p:txBody>
      </p:sp>
    </p:spTree>
    <p:extLst>
      <p:ext uri="{BB962C8B-B14F-4D97-AF65-F5344CB8AC3E}">
        <p14:creationId xmlns:p14="http://schemas.microsoft.com/office/powerpoint/2010/main" val="17264868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C8952-564A-4728-958F-3A5AD8DE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AC2728-16DD-494C-87E5-59EA4697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00965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Approve the £200 pilot—and use evidence to earn the right to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C999B2-2E24-4CB8-A1AB-0CE0AEB6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291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271948-B05B-43AF-99DD-99E4FE7C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9625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Viable today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E9F1A-9B57-49C6-8519-AD22464D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£1,000 monthly profit at 25 trolleys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C39AA-B2C5-4BC5-8CD1-C77CC09B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619625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Disciplined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26CAA-813D-4796-8361-1B7E2EC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0482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Core shopper and operator jobs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1500D1-26FA-430F-A845-15493C83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19625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Controlled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7913B-D9B2-47ED-B47B-4C537B0D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482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Scale after adoption, reliability and cost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D4F71-1EE8-4E2F-BE24-10AFB350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Decision requested: approve a 25-trolley paid pilot at £200 per trolley per month.</a:t>
            </a:r>
          </a:p>
        </p:txBody>
      </p:sp>
    </p:spTree>
    <p:extLst>
      <p:ext uri="{BB962C8B-B14F-4D97-AF65-F5344CB8AC3E}">
        <p14:creationId xmlns:p14="http://schemas.microsoft.com/office/powerpoint/2010/main" val="18444818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2026-07-31T14:44:47.1800000Z</dcterms:created>
  <dcterms:modified xsi:type="dcterms:W3CDTF">2026-07-31T14:44:47.1800000Z</dcterms:modified>
</coreProperties>
</file>